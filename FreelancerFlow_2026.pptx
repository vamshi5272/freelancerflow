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40784-03F1-4B9C-8DC5-C7A0606F60E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F68E2-202D-4ED3-8DE7-5CA80D4AE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62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F68E2-202D-4ED3-8DE7-5CA80D4AE74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68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12280" y="411480"/>
            <a:ext cx="4800600" cy="5897880"/>
          </a:xfrm>
          <a:prstGeom prst="roundRect">
            <a:avLst>
              <a:gd name="adj" fmla="val 12000"/>
            </a:avLst>
          </a:prstGeom>
          <a:solidFill>
            <a:srgbClr val="18304E"/>
          </a:solidFill>
          <a:ln>
            <a:solidFill>
              <a:srgbClr val="18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50608" y="713232"/>
            <a:ext cx="3931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B8A6"/>
                </a:solidFill>
                <a:latin typeface="Aptos"/>
              </a:rPr>
              <a:t>FREELANCERFLOW  / 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50608" y="1042415"/>
            <a:ext cx="3840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Your work, in one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50608" y="1737360"/>
            <a:ext cx="1234440" cy="960120"/>
          </a:xfrm>
          <a:prstGeom prst="roundRect">
            <a:avLst>
              <a:gd name="adj" fmla="val 12000"/>
            </a:avLst>
          </a:prstGeom>
          <a:solidFill>
            <a:srgbClr val="1F3B59"/>
          </a:solidFill>
          <a:ln>
            <a:solidFill>
              <a:srgbClr val="1F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42048" y="1847088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E7EFF5"/>
                </a:solidFill>
                <a:latin typeface="Aptos"/>
              </a:rPr>
              <a:t>ACTIVE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2048" y="2103120"/>
            <a:ext cx="10058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3B8A6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737360"/>
            <a:ext cx="1234440" cy="960120"/>
          </a:xfrm>
          <a:prstGeom prst="roundRect">
            <a:avLst>
              <a:gd name="adj" fmla="val 12000"/>
            </a:avLst>
          </a:prstGeom>
          <a:solidFill>
            <a:srgbClr val="1F3B59"/>
          </a:solidFill>
          <a:ln>
            <a:solidFill>
              <a:srgbClr val="1F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1847088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E7EFF5"/>
                </a:solidFill>
                <a:latin typeface="Aptos"/>
              </a:rPr>
              <a:t>TASKS 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03120"/>
            <a:ext cx="10058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5248" y="1737360"/>
            <a:ext cx="1234440" cy="960120"/>
          </a:xfrm>
          <a:prstGeom prst="roundRect">
            <a:avLst>
              <a:gd name="adj" fmla="val 12000"/>
            </a:avLst>
          </a:prstGeom>
          <a:solidFill>
            <a:srgbClr val="1F3B59"/>
          </a:solidFill>
          <a:ln>
            <a:solidFill>
              <a:srgbClr val="1F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76688" y="1847088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E7EFF5"/>
                </a:solidFill>
                <a:latin typeface="Aptos"/>
              </a:rPr>
              <a:t>PAYMENTS TRACKED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6688" y="2103120"/>
            <a:ext cx="10058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3B8A6"/>
                </a:solidFill>
                <a:latin typeface="Aptos"/>
              </a:rPr>
              <a:t>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2926080"/>
            <a:ext cx="4096512" cy="2606040"/>
          </a:xfrm>
          <a:prstGeom prst="roundRect">
            <a:avLst>
              <a:gd name="adj" fmla="val 12000"/>
            </a:avLst>
          </a:prstGeom>
          <a:solidFill>
            <a:srgbClr val="122843"/>
          </a:solidFill>
          <a:ln>
            <a:solidFill>
              <a:srgbClr val="122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3090672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7EFF5"/>
                </a:solidFill>
                <a:latin typeface="Aptos"/>
              </a:rPr>
              <a:t>PROJECT 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1" y="3502152"/>
            <a:ext cx="3694176" cy="438912"/>
          </a:xfrm>
          <a:prstGeom prst="roundRect">
            <a:avLst>
              <a:gd name="adj" fmla="val 12000"/>
            </a:avLst>
          </a:prstGeom>
          <a:solidFill>
            <a:srgbClr val="1E3954"/>
          </a:solidFill>
          <a:ln>
            <a:solidFill>
              <a:srgbClr val="1E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9792" y="3529584"/>
            <a:ext cx="19659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Website redesign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3593592"/>
            <a:ext cx="1170432" cy="237744"/>
          </a:xfrm>
          <a:prstGeom prst="roundRect">
            <a:avLst>
              <a:gd name="adj" fmla="val 12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47504" y="3593592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D1F38"/>
                </a:solidFill>
                <a:latin typeface="Aptos"/>
              </a:rPr>
              <a:t>IN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4069080"/>
            <a:ext cx="3694176" cy="438912"/>
          </a:xfrm>
          <a:prstGeom prst="roundRect">
            <a:avLst>
              <a:gd name="adj" fmla="val 12000"/>
            </a:avLst>
          </a:prstGeom>
          <a:solidFill>
            <a:srgbClr val="1E3954"/>
          </a:solidFill>
          <a:ln>
            <a:solidFill>
              <a:srgbClr val="1E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9792" y="4096512"/>
            <a:ext cx="19659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Brand identity kit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4160520"/>
            <a:ext cx="1170432" cy="237744"/>
          </a:xfrm>
          <a:prstGeom prst="roundRect">
            <a:avLst>
              <a:gd name="adj" fmla="val 12000"/>
            </a:avLst>
          </a:prstGeom>
          <a:solidFill>
            <a:srgbClr val="E2972A"/>
          </a:solidFill>
          <a:ln>
            <a:solidFill>
              <a:srgbClr val="E2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47504" y="4160520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D1F38"/>
                </a:solidFill>
                <a:latin typeface="Aptos"/>
              </a:rPr>
              <a:t>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2631" y="4636008"/>
            <a:ext cx="3694176" cy="438912"/>
          </a:xfrm>
          <a:prstGeom prst="roundRect">
            <a:avLst>
              <a:gd name="adj" fmla="val 12000"/>
            </a:avLst>
          </a:prstGeom>
          <a:solidFill>
            <a:srgbClr val="1E3954"/>
          </a:solidFill>
          <a:ln>
            <a:solidFill>
              <a:srgbClr val="1E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9792" y="4663440"/>
            <a:ext cx="19659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Landing 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4727448"/>
            <a:ext cx="1170432" cy="237744"/>
          </a:xfrm>
          <a:prstGeom prst="roundRect">
            <a:avLst>
              <a:gd name="adj" fmla="val 12000"/>
            </a:avLst>
          </a:prstGeom>
          <a:solidFill>
            <a:srgbClr val="708296"/>
          </a:solidFill>
          <a:ln>
            <a:solidFill>
              <a:srgbClr val="70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47504" y="47274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5760720"/>
            <a:ext cx="41148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3B8A6"/>
                </a:solidFill>
                <a:latin typeface="Aptos"/>
              </a:rPr>
              <a:t>PROJECTS  →  TASKS  →  DEADLINES  →  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905256"/>
            <a:ext cx="5852160" cy="685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dirty="0" err="1">
                <a:solidFill>
                  <a:srgbClr val="FFFFFF"/>
                </a:solidFill>
                <a:latin typeface="Aptos"/>
              </a:rPr>
              <a:t>FreelancerFlow</a:t>
            </a:r>
            <a:endParaRPr sz="3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" y="1760859"/>
            <a:ext cx="557784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Aptos"/>
              </a:rPr>
              <a:t>Freelancer Project
Management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3602" y="2903220"/>
            <a:ext cx="1051560" cy="64008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3157925"/>
            <a:ext cx="5440680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E7EFF5"/>
                </a:solidFill>
                <a:latin typeface="Aptos"/>
              </a:rPr>
              <a:t>One workspace to organize client work, tasks,
deadlines and payment records.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7" y="3941064"/>
            <a:ext cx="52120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Malla Reddy Technical Campus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7" y="4358832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BECDDC"/>
                </a:solidFill>
                <a:latin typeface="Aptos"/>
              </a:rPr>
              <a:t>II Year </a:t>
            </a:r>
            <a:r>
              <a:rPr sz="1100" b="0" dirty="0" err="1">
                <a:solidFill>
                  <a:srgbClr val="BECDDC"/>
                </a:solidFill>
                <a:latin typeface="Aptos"/>
              </a:rPr>
              <a:t>B.Tech</a:t>
            </a:r>
            <a:r>
              <a:rPr sz="1100" b="0" dirty="0">
                <a:solidFill>
                  <a:srgbClr val="BECDDC"/>
                </a:solidFill>
                <a:latin typeface="Aptos"/>
              </a:rPr>
              <a:t>  |  III Semester  |  Section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" y="4636008"/>
            <a:ext cx="5669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>
                <a:solidFill>
                  <a:srgbClr val="13B8A6"/>
                </a:solidFill>
                <a:latin typeface="Aptos"/>
              </a:rPr>
              <a:t>Team </a:t>
            </a:r>
            <a:r>
              <a:rPr sz="1100" b="1" dirty="0" err="1">
                <a:solidFill>
                  <a:srgbClr val="13B8A6"/>
                </a:solidFill>
                <a:latin typeface="Aptos"/>
              </a:rPr>
              <a:t>FreelancerFlow</a:t>
            </a:r>
            <a:r>
              <a:rPr sz="1100" b="1" dirty="0">
                <a:solidFill>
                  <a:srgbClr val="13B8A6"/>
                </a:solidFill>
                <a:latin typeface="Aptos"/>
              </a:rPr>
              <a:t>  •  Faculty Mentor: Satwika Mam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7" y="5005671"/>
            <a:ext cx="5715000" cy="132036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BECDDC"/>
                </a:solidFill>
                <a:latin typeface="Aptos"/>
              </a:rPr>
              <a:t> </a:t>
            </a:r>
            <a:r>
              <a:rPr lang="en-US" sz="900" b="1" u="sng" dirty="0">
                <a:solidFill>
                  <a:srgbClr val="BECDDC"/>
                </a:solidFill>
                <a:latin typeface="Aptos"/>
              </a:rPr>
              <a:t>PRESENTED BY:</a:t>
            </a:r>
          </a:p>
          <a:p>
            <a:pPr algn="l">
              <a:spcAft>
                <a:spcPts val="0"/>
              </a:spcAft>
            </a:pPr>
            <a:endParaRPr lang="en-US" sz="900" b="1" u="sng" dirty="0">
              <a:solidFill>
                <a:srgbClr val="BECDDC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BECDDC"/>
                </a:solidFill>
                <a:latin typeface="Aptos"/>
              </a:rPr>
              <a:t> </a:t>
            </a:r>
            <a:r>
              <a:rPr sz="900" b="1" dirty="0">
                <a:solidFill>
                  <a:srgbClr val="BECDDC"/>
                </a:solidFill>
                <a:latin typeface="Aptos"/>
              </a:rPr>
              <a:t>V SAI VAMSHI </a:t>
            </a:r>
            <a:r>
              <a:rPr lang="en-US" sz="900" b="1" dirty="0">
                <a:solidFill>
                  <a:srgbClr val="BECDDC"/>
                </a:solidFill>
                <a:latin typeface="Aptos"/>
              </a:rPr>
              <a:t> - 25MVCSMR0675</a:t>
            </a:r>
          </a:p>
          <a:p>
            <a:pPr algn="l">
              <a:spcAft>
                <a:spcPts val="0"/>
              </a:spcAft>
            </a:pPr>
            <a:endParaRPr lang="en-US" sz="900" b="1" dirty="0">
              <a:solidFill>
                <a:srgbClr val="BECDDC"/>
              </a:solidFill>
              <a:latin typeface="Aptos"/>
            </a:endParaRPr>
          </a:p>
          <a:p>
            <a:r>
              <a:rPr sz="900" b="1" dirty="0">
                <a:solidFill>
                  <a:srgbClr val="BECDDC"/>
                </a:solidFill>
                <a:latin typeface="Aptos"/>
              </a:rPr>
              <a:t> S SAI CHARAN </a:t>
            </a:r>
            <a:r>
              <a:rPr lang="en-US" sz="900" b="1" dirty="0">
                <a:solidFill>
                  <a:srgbClr val="BECDDC"/>
                </a:solidFill>
                <a:latin typeface="Aptos"/>
              </a:rPr>
              <a:t> - 25MVCSMR0700</a:t>
            </a:r>
          </a:p>
          <a:p>
            <a:endParaRPr lang="en-US" sz="900" b="1" dirty="0">
              <a:solidFill>
                <a:srgbClr val="BECDDC"/>
              </a:solidFill>
              <a:latin typeface="Aptos"/>
            </a:endParaRPr>
          </a:p>
          <a:p>
            <a:r>
              <a:rPr sz="900" b="1" dirty="0">
                <a:solidFill>
                  <a:srgbClr val="BECDDC"/>
                </a:solidFill>
                <a:latin typeface="Aptos"/>
              </a:rPr>
              <a:t> D MANOJ REDDY  </a:t>
            </a:r>
            <a:r>
              <a:rPr lang="en-US" sz="900" b="1" dirty="0">
                <a:solidFill>
                  <a:srgbClr val="BECDDC"/>
                </a:solidFill>
                <a:latin typeface="Aptos"/>
              </a:rPr>
              <a:t>- 25MVCSMR0715</a:t>
            </a:r>
          </a:p>
          <a:p>
            <a:endParaRPr lang="en-US" sz="900" b="1" dirty="0">
              <a:solidFill>
                <a:srgbClr val="BECDDC"/>
              </a:solidFill>
              <a:latin typeface="Aptos"/>
            </a:endParaRPr>
          </a:p>
          <a:p>
            <a:r>
              <a:rPr sz="900" b="1" dirty="0">
                <a:solidFill>
                  <a:srgbClr val="BECDDC"/>
                </a:solidFill>
                <a:latin typeface="Aptos"/>
              </a:rPr>
              <a:t> SHAIK SHAYAAN AHMAD</a:t>
            </a:r>
            <a:r>
              <a:rPr lang="en-US" sz="900" b="1" dirty="0">
                <a:solidFill>
                  <a:srgbClr val="BECDDC"/>
                </a:solidFill>
                <a:latin typeface="Aptos"/>
              </a:rPr>
              <a:t> - 25MVCSMR0673</a:t>
            </a:r>
            <a:endParaRPr sz="900" b="1" dirty="0">
              <a:solidFill>
                <a:srgbClr val="BECDDC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CF"/>
                </a:solidFill>
                <a:latin typeface="Aptos"/>
              </a:rPr>
              <a:t>FREELANCERFLOW  •  APSH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6519672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ADBECF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02  / 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Freelance work is scattered across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08296"/>
                </a:solidFill>
                <a:latin typeface="Aptos"/>
              </a:rPr>
              <a:t>Client details, project progress, deadlines and payments can become difficult to track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73736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2075688"/>
            <a:ext cx="384048" cy="38404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075688"/>
            <a:ext cx="38404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9875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1417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Contacts &amp; briefs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20240"/>
            <a:ext cx="173736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889504" y="2075688"/>
            <a:ext cx="384048" cy="384048"/>
          </a:xfrm>
          <a:prstGeom prst="ellipse">
            <a:avLst/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9504" y="2075688"/>
            <a:ext cx="38404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57400"/>
            <a:ext cx="9875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633472"/>
            <a:ext cx="1417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Scope &amp;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73736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813048"/>
            <a:ext cx="384048" cy="38404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813048"/>
            <a:ext cx="38404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9875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70832"/>
            <a:ext cx="1417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To-dos &amp;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657600"/>
            <a:ext cx="173736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889504" y="3813048"/>
            <a:ext cx="384048" cy="384048"/>
          </a:xfrm>
          <a:prstGeom prst="ellipse">
            <a:avLst/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9504" y="3813048"/>
            <a:ext cx="38404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94760"/>
            <a:ext cx="9875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4370832"/>
            <a:ext cx="1417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Invoices &amp; records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2560320"/>
            <a:ext cx="3154680" cy="685800"/>
          </a:xfrm>
          <a:prstGeom prst="line">
            <a:avLst/>
          </a:prstGeom>
          <a:ln w="19050">
            <a:solidFill>
              <a:srgbClr val="AC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0560" y="2560320"/>
            <a:ext cx="1143000" cy="685800"/>
          </a:xfrm>
          <a:prstGeom prst="line">
            <a:avLst/>
          </a:prstGeom>
          <a:ln w="19050">
            <a:solidFill>
              <a:srgbClr val="AC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468880" y="3246120"/>
            <a:ext cx="3154680" cy="1051560"/>
          </a:xfrm>
          <a:prstGeom prst="line">
            <a:avLst/>
          </a:prstGeom>
          <a:ln w="19050">
            <a:solidFill>
              <a:srgbClr val="AC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480560" y="3246120"/>
            <a:ext cx="1143000" cy="1051560"/>
          </a:xfrm>
          <a:prstGeom prst="line">
            <a:avLst/>
          </a:prstGeom>
          <a:ln w="19050">
            <a:solidFill>
              <a:srgbClr val="AC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486400" y="2788920"/>
            <a:ext cx="960120" cy="960120"/>
          </a:xfrm>
          <a:prstGeom prst="ellipse">
            <a:avLst/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0" y="2788920"/>
            <a:ext cx="96012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46520" y="3273552"/>
            <a:ext cx="731520" cy="0"/>
          </a:xfrm>
          <a:prstGeom prst="line">
            <a:avLst/>
          </a:prstGeom>
          <a:ln w="25400">
            <a:solidFill>
              <a:srgbClr val="13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69480" y="1874519"/>
            <a:ext cx="4160520" cy="3337560"/>
          </a:xfrm>
          <a:prstGeom prst="roundRect">
            <a:avLst>
              <a:gd name="adj" fmla="val 12000"/>
            </a:avLst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214884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B8A6"/>
                </a:solidFill>
                <a:latin typeface="Aptos"/>
              </a:rPr>
              <a:t>THE NEED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560320"/>
            <a:ext cx="347472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One clear view
of the whole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3657600"/>
            <a:ext cx="3383280" cy="118872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7EFF5"/>
                </a:solidFill>
                <a:latin typeface="Aptos"/>
              </a:defRPr>
            </a:pPr>
            <a:r>
              <a:t>•  Keep related information together</a:t>
            </a:r>
          </a:p>
          <a:p>
            <a:pPr>
              <a:spcAft>
                <a:spcPts val="800"/>
              </a:spcAft>
              <a:defRPr sz="1300">
                <a:solidFill>
                  <a:srgbClr val="E7EFF5"/>
                </a:solidFill>
                <a:latin typeface="Aptos"/>
              </a:defRPr>
            </a:pPr>
            <a:r>
              <a:t>•  See task deadlines and status</a:t>
            </a:r>
          </a:p>
          <a:p>
            <a:pPr>
              <a:spcAft>
                <a:spcPts val="800"/>
              </a:spcAft>
              <a:defRPr sz="1300">
                <a:solidFill>
                  <a:srgbClr val="E7EFF5"/>
                </a:solidFill>
                <a:latin typeface="Aptos"/>
              </a:defRPr>
            </a:pPr>
            <a:r>
              <a:t>•  Maintain payment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F38"/>
                </a:solidFill>
                <a:latin typeface="Aptos"/>
              </a:rPr>
              <a:t>Goal: reduce context switching and improve visibility.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FREELANCERFLOW  •  APSH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519672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03  / 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A centralized workflow for freelancer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08296"/>
                </a:solidFill>
                <a:latin typeface="Aptos"/>
              </a:rPr>
              <a:t>Core proposal: connect the information freelancers need instead of spreading it across separate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359152"/>
            <a:ext cx="438912" cy="438912"/>
          </a:xfrm>
          <a:prstGeom prst="ellipse">
            <a:avLst/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1F38"/>
                </a:solidFill>
                <a:latin typeface="Aptos"/>
              </a:rPr>
              <a:t>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99339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Organize client 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4952" y="3063240"/>
            <a:ext cx="402336" cy="0"/>
          </a:xfrm>
          <a:prstGeom prst="line">
            <a:avLst/>
          </a:prstGeom>
          <a:ln w="25400">
            <a:solidFill>
              <a:srgbClr val="13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214884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03320" y="2359152"/>
            <a:ext cx="438912" cy="438912"/>
          </a:xfrm>
          <a:prstGeom prst="ellipse">
            <a:avLst/>
          </a:prstGeom>
          <a:solidFill>
            <a:srgbClr val="0A857E"/>
          </a:solidFill>
          <a:ln>
            <a:solidFill>
              <a:srgbClr val="0A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359152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944368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1F38"/>
                </a:solidFill>
                <a:latin typeface="Aptos"/>
              </a:rPr>
              <a:t>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337560"/>
            <a:ext cx="199339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Break work into actions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3063240"/>
            <a:ext cx="402336" cy="0"/>
          </a:xfrm>
          <a:prstGeom prst="line">
            <a:avLst/>
          </a:prstGeom>
          <a:ln w="25400">
            <a:solidFill>
              <a:srgbClr val="13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55080" y="214884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37960" y="2359152"/>
            <a:ext cx="438912" cy="438912"/>
          </a:xfrm>
          <a:prstGeom prst="ellipse">
            <a:avLst/>
          </a:prstGeom>
          <a:solidFill>
            <a:srgbClr val="E2972A"/>
          </a:solidFill>
          <a:ln>
            <a:solidFill>
              <a:srgbClr val="E2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359152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44368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1F38"/>
                </a:solidFill>
                <a:latin typeface="Aptos"/>
              </a:rPr>
              <a:t>DEADLINES +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37560"/>
            <a:ext cx="199339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See what needs attention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4232" y="3063240"/>
            <a:ext cx="402336" cy="0"/>
          </a:xfrm>
          <a:prstGeom prst="line">
            <a:avLst/>
          </a:prstGeom>
          <a:ln w="25400">
            <a:solidFill>
              <a:srgbClr val="13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20" y="214884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72600" y="2359152"/>
            <a:ext cx="438912" cy="438912"/>
          </a:xfrm>
          <a:prstGeom prst="ellipse">
            <a:avLst/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2359152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44368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1F38"/>
                </a:solidFill>
                <a:latin typeface="Aptos"/>
              </a:rPr>
              <a:t>PAYMENT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337560"/>
            <a:ext cx="199339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Keep payment details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52628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OBJECTIVES</a:t>
            </a:r>
          </a:p>
        </p:txBody>
      </p:sp>
      <p:sp>
        <p:nvSpPr>
          <p:cNvPr id="29" name="Oval 28"/>
          <p:cNvSpPr/>
          <p:nvPr/>
        </p:nvSpPr>
        <p:spPr>
          <a:xfrm>
            <a:off x="749808" y="4892040"/>
            <a:ext cx="256032" cy="256032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892040"/>
            <a:ext cx="25603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8737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D1F38"/>
                </a:solidFill>
                <a:latin typeface="Aptos"/>
              </a:rPr>
              <a:t>Organize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7128" y="4873752"/>
            <a:ext cx="3611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Projects and client context</a:t>
            </a:r>
          </a:p>
        </p:txBody>
      </p:sp>
      <p:sp>
        <p:nvSpPr>
          <p:cNvPr id="33" name="Oval 32"/>
          <p:cNvSpPr/>
          <p:nvPr/>
        </p:nvSpPr>
        <p:spPr>
          <a:xfrm>
            <a:off x="6236208" y="4892040"/>
            <a:ext cx="256032" cy="256032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4892040"/>
            <a:ext cx="25603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8737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D1F38"/>
                </a:solidFill>
                <a:latin typeface="Aptos"/>
              </a:rPr>
              <a:t>Track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53528" y="4873752"/>
            <a:ext cx="3611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Tasks, deadlines and status</a:t>
            </a:r>
          </a:p>
        </p:txBody>
      </p:sp>
      <p:sp>
        <p:nvSpPr>
          <p:cNvPr id="37" name="Oval 36"/>
          <p:cNvSpPr/>
          <p:nvPr/>
        </p:nvSpPr>
        <p:spPr>
          <a:xfrm>
            <a:off x="749808" y="5486400"/>
            <a:ext cx="256032" cy="256032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5486400"/>
            <a:ext cx="25603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546811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D1F38"/>
                </a:solidFill>
                <a:latin typeface="Aptos"/>
              </a:rPr>
              <a:t>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67128" y="5468112"/>
            <a:ext cx="3611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Payment-related information</a:t>
            </a:r>
          </a:p>
        </p:txBody>
      </p:sp>
      <p:sp>
        <p:nvSpPr>
          <p:cNvPr id="41" name="Oval 40"/>
          <p:cNvSpPr/>
          <p:nvPr/>
        </p:nvSpPr>
        <p:spPr>
          <a:xfrm>
            <a:off x="6236208" y="5486400"/>
            <a:ext cx="256032" cy="256032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5486400"/>
            <a:ext cx="25603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46811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D1F38"/>
                </a:solidFill>
                <a:latin typeface="Aptos"/>
              </a:rPr>
              <a:t>Explore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53528" y="5468112"/>
            <a:ext cx="3611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Deadline-based prioritization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617220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2972A"/>
                </a:solidFill>
                <a:latin typeface="Aptos"/>
              </a:rPr>
              <a:t>Deadline-based prioritization is a proposed capability, not a claimed implemented result.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FREELANCERFLOW  •  APSH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519672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04  /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MERN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08296"/>
                </a:solidFill>
                <a:latin typeface="Aptos"/>
              </a:rPr>
              <a:t>A JavaScript-oriented stack for the interface, API layer, runtime and data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303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968" y="2194560"/>
            <a:ext cx="868680" cy="1078992"/>
          </a:xfrm>
          <a:prstGeom prst="roundRect">
            <a:avLst>
              <a:gd name="adj" fmla="val 12000"/>
            </a:avLst>
          </a:prstGeom>
          <a:solidFill>
            <a:srgbClr val="DEF8F4"/>
          </a:solidFill>
          <a:ln>
            <a:solidFill>
              <a:srgbClr val="DE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9848" y="2322576"/>
            <a:ext cx="502920" cy="502920"/>
          </a:xfrm>
          <a:prstGeom prst="ellipse">
            <a:avLst/>
          </a:prstGeom>
          <a:solidFill>
            <a:srgbClr val="187E52"/>
          </a:solidFill>
          <a:ln>
            <a:solidFill>
              <a:srgbClr val="187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322576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2194560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2560320"/>
            <a:ext cx="347472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87E52"/>
                </a:solidFill>
                <a:latin typeface="Aptos"/>
              </a:rP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2898648"/>
            <a:ext cx="36118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Stores structured project-related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2303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64807" y="2194560"/>
            <a:ext cx="868680" cy="1078992"/>
          </a:xfrm>
          <a:prstGeom prst="roundRect">
            <a:avLst>
              <a:gd name="adj" fmla="val 12000"/>
            </a:avLst>
          </a:prstGeom>
          <a:solidFill>
            <a:srgbClr val="E5EEFA"/>
          </a:solidFill>
          <a:ln>
            <a:solidFill>
              <a:srgbClr val="E5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47688" y="2322576"/>
            <a:ext cx="502920" cy="502920"/>
          </a:xfrm>
          <a:prstGeom prst="ellipse">
            <a:avLst/>
          </a:prstGeom>
          <a:solidFill>
            <a:srgbClr val="465B79"/>
          </a:solidFill>
          <a:ln>
            <a:solidFill>
              <a:srgbClr val="465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2322576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194560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560320"/>
            <a:ext cx="347472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65B79"/>
                </a:solidFill>
                <a:latin typeface="Aptos"/>
              </a:rPr>
              <a:t>Backend API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898648"/>
            <a:ext cx="36118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Defines API routes and request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52303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6968" y="4206240"/>
            <a:ext cx="868680" cy="1078992"/>
          </a:xfrm>
          <a:prstGeom prst="roundRect">
            <a:avLst>
              <a:gd name="adj" fmla="val 12000"/>
            </a:avLst>
          </a:prstGeom>
          <a:solidFill>
            <a:srgbClr val="DEF8F4"/>
          </a:solidFill>
          <a:ln>
            <a:solidFill>
              <a:srgbClr val="DE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" y="4334255"/>
            <a:ext cx="502920" cy="502920"/>
          </a:xfrm>
          <a:prstGeom prst="ellipse">
            <a:avLst/>
          </a:prstGeom>
          <a:solidFill>
            <a:srgbClr val="0A857E"/>
          </a:solidFill>
          <a:ln>
            <a:solidFill>
              <a:srgbClr val="0A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334255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4206240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4248" y="4572000"/>
            <a:ext cx="347472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Frontend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8" y="4910327"/>
            <a:ext cx="36118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Builds the user-facing dashboard and 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77639"/>
            <a:ext cx="52303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64807" y="4206240"/>
            <a:ext cx="868680" cy="1078992"/>
          </a:xfrm>
          <a:prstGeom prst="roundRect">
            <a:avLst>
              <a:gd name="adj" fmla="val 12000"/>
            </a:avLst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47688" y="4334255"/>
            <a:ext cx="502920" cy="502920"/>
          </a:xfrm>
          <a:prstGeom prst="ellipse">
            <a:avLst/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47688" y="4334255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4206240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Node.js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4572000"/>
            <a:ext cx="347472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JavaScript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910327"/>
            <a:ext cx="36118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Runs the server-side JavaScript application.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80760"/>
            <a:ext cx="100584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8296"/>
                </a:solidFill>
                <a:latin typeface="Aptos"/>
              </a:rPr>
              <a:t>Conceptual stack overview. Actual integration depends on the implementation.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FREELANCERFLOW  •  APSH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7080" y="6519672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05  /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A simple three-layer application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08296"/>
                </a:solidFill>
                <a:latin typeface="Aptos"/>
              </a:rPr>
              <a:t>Conceptual architecture shown; no unverified services or extra modules are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2542032"/>
            <a:ext cx="566928" cy="56692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542032"/>
            <a:ext cx="5669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87168"/>
            <a:ext cx="155448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React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33172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08296"/>
                </a:solidFill>
                <a:latin typeface="Aptos"/>
              </a:rPr>
              <a:t>User interface
Project and task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24028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19472" y="2542032"/>
            <a:ext cx="566928" cy="56692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19472" y="2542032"/>
            <a:ext cx="5669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D1F38"/>
                </a:solidFill>
                <a:latin typeface="Apto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48716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Node.js /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46120"/>
            <a:ext cx="233172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7EFF5"/>
                </a:solidFill>
                <a:latin typeface="Aptos"/>
              </a:rPr>
              <a:t>Receives requests
Applies server-side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24028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87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51392" y="2542032"/>
            <a:ext cx="566928" cy="566928"/>
          </a:xfrm>
          <a:prstGeom prst="ellipse">
            <a:avLst/>
          </a:prstGeom>
          <a:solidFill>
            <a:srgbClr val="187E52"/>
          </a:solidFill>
          <a:ln>
            <a:solidFill>
              <a:srgbClr val="187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51392" y="2542032"/>
            <a:ext cx="56692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487168"/>
            <a:ext cx="14630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246120"/>
            <a:ext cx="233172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08296"/>
                </a:solidFill>
                <a:latin typeface="Aptos"/>
              </a:rPr>
              <a:t>Stores project-related
records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9312" y="2852928"/>
            <a:ext cx="950976" cy="0"/>
          </a:xfrm>
          <a:prstGeom prst="line">
            <a:avLst/>
          </a:prstGeom>
          <a:ln w="25400">
            <a:solidFill>
              <a:srgbClr val="13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39312" y="3401568"/>
            <a:ext cx="950976" cy="0"/>
          </a:xfrm>
          <a:prstGeom prst="line">
            <a:avLst/>
          </a:prstGeom>
          <a:ln w="19050">
            <a:solidFill>
              <a:srgbClr val="7C9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71231" y="2852928"/>
            <a:ext cx="950977" cy="0"/>
          </a:xfrm>
          <a:prstGeom prst="line">
            <a:avLst/>
          </a:prstGeom>
          <a:ln w="25400">
            <a:solidFill>
              <a:srgbClr val="13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571231" y="3401568"/>
            <a:ext cx="950977" cy="0"/>
          </a:xfrm>
          <a:prstGeom prst="line">
            <a:avLst/>
          </a:prstGeom>
          <a:ln w="19050">
            <a:solidFill>
              <a:srgbClr val="7C9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67328" y="254203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A857E"/>
                </a:solidFill>
                <a:latin typeface="Aptos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538728"/>
            <a:ext cx="77724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7" y="2542032"/>
            <a:ext cx="804672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A857E"/>
                </a:solidFill>
                <a:latin typeface="Aptos"/>
              </a:rPr>
              <a:t>READ / 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538728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0916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1. PRESENT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74920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347"/>
                </a:solidFill>
                <a:latin typeface="Aptos"/>
              </a:rPr>
              <a:t>React renders the interface.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70916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2.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074920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347"/>
                </a:solidFill>
                <a:latin typeface="Aptos"/>
              </a:rPr>
              <a:t>Express handles API requests.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70916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3. PERSIST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074920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347"/>
                </a:solidFill>
                <a:latin typeface="Aptos"/>
              </a:rPr>
              <a:t>MongoDB stores application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06440"/>
            <a:ext cx="10561320" cy="384048"/>
          </a:xfrm>
          <a:prstGeom prst="roundRect">
            <a:avLst>
              <a:gd name="adj" fmla="val 12000"/>
            </a:avLst>
          </a:prstGeom>
          <a:solidFill>
            <a:srgbClr val="E5EEFA"/>
          </a:solidFill>
          <a:ln>
            <a:solidFill>
              <a:srgbClr val="E5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" y="5843016"/>
            <a:ext cx="101498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Architecture diagram is a design-level representation, not proof of completed integration.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FREELANCERFLOW  •  APSH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6519672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06  / 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Four connected data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08296"/>
                </a:solidFill>
                <a:latin typeface="Aptos"/>
              </a:rPr>
              <a:t>Illustrative dashboard mockup only. Replace with a real application screenshot when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788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109728" cy="749808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3B8A6"/>
                </a:solidFill>
                <a:latin typeface="Aptos"/>
              </a:rPr>
              <a:t>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Client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70632"/>
            <a:ext cx="2788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770632"/>
            <a:ext cx="109728" cy="749808"/>
          </a:xfrm>
          <a:prstGeom prst="rect">
            <a:avLst/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862072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1F38"/>
                </a:solidFill>
                <a:latin typeface="Aptos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36392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Project scope &amp;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12464"/>
            <a:ext cx="2788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712464"/>
            <a:ext cx="109728" cy="749808"/>
          </a:xfrm>
          <a:prstGeom prst="rect">
            <a:avLst/>
          </a:prstGeom>
          <a:solidFill>
            <a:srgbClr val="E2972A"/>
          </a:solidFill>
          <a:ln>
            <a:solidFill>
              <a:srgbClr val="E2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803904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972A"/>
                </a:solidFill>
                <a:latin typeface="Aptos"/>
              </a:rPr>
              <a:t>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Deadline &amp;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54296"/>
            <a:ext cx="2788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654296"/>
            <a:ext cx="109728" cy="749808"/>
          </a:xfrm>
          <a:prstGeom prst="rect">
            <a:avLst/>
          </a:prstGeom>
          <a:solidFill>
            <a:srgbClr val="259770"/>
          </a:solidFill>
          <a:ln>
            <a:solidFill>
              <a:srgbClr val="25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745736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9770"/>
                </a:solidFill>
                <a:latin typeface="Aptos"/>
              </a:rP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020056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8296"/>
                </a:solidFill>
                <a:latin typeface="Aptos"/>
              </a:rPr>
              <a:t>Payment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783080"/>
            <a:ext cx="75438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86200" y="1783080"/>
            <a:ext cx="7543800" cy="429768"/>
          </a:xfrm>
          <a:prstGeom prst="roundRect">
            <a:avLst>
              <a:gd name="adj" fmla="val 12000"/>
            </a:avLst>
          </a:prstGeom>
          <a:solidFill>
            <a:srgbClr val="0D1F38"/>
          </a:solidFill>
          <a:ln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096512" y="1920240"/>
            <a:ext cx="91440" cy="91440"/>
          </a:xfrm>
          <a:prstGeom prst="ellipse">
            <a:avLst/>
          </a:prstGeom>
          <a:solidFill>
            <a:srgbClr val="D05656"/>
          </a:solidFill>
          <a:ln>
            <a:solidFill>
              <a:srgbClr val="D0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97680" y="1920240"/>
            <a:ext cx="91440" cy="91440"/>
          </a:xfrm>
          <a:prstGeom prst="ellipse">
            <a:avLst/>
          </a:prstGeom>
          <a:solidFill>
            <a:srgbClr val="E2972A"/>
          </a:solidFill>
          <a:ln>
            <a:solidFill>
              <a:srgbClr val="E2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98848" y="1920240"/>
            <a:ext cx="91440" cy="91440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1856231"/>
            <a:ext cx="53035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FREELANCERFLOW  /  DASHBOARD MOCKUP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2395728"/>
            <a:ext cx="1353312" cy="331012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2578608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Workspace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971800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8296"/>
                </a:solidFill>
                <a:latin typeface="Aptos"/>
              </a:rPr>
              <a:t>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3410712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8296"/>
                </a:solidFill>
                <a:latin typeface="Aptos"/>
              </a:rPr>
              <a:t>Clients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87952" y="3813048"/>
            <a:ext cx="1143000" cy="329184"/>
          </a:xfrm>
          <a:prstGeom prst="roundRect">
            <a:avLst>
              <a:gd name="adj" fmla="val 12000"/>
            </a:avLst>
          </a:prstGeom>
          <a:solidFill>
            <a:srgbClr val="DEF8F4"/>
          </a:solidFill>
          <a:ln>
            <a:solidFill>
              <a:srgbClr val="DE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79392" y="3849624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A857E"/>
                </a:solidFill>
                <a:latin typeface="Aptos"/>
              </a:rPr>
              <a:t>Projects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4288536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8296"/>
                </a:solidFill>
                <a:latin typeface="Aptos"/>
              </a:rPr>
              <a:t>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4727448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8296"/>
                </a:solidFill>
                <a:latin typeface="Aptos"/>
              </a:rPr>
              <a:t>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514600"/>
            <a:ext cx="24688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Project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578608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08296"/>
                </a:solidFill>
                <a:latin typeface="Aptos"/>
              </a:rPr>
              <a:t>Sample layout • illustrative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0" y="2971800"/>
            <a:ext cx="148132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24728" y="3072384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708296"/>
                </a:solidFill>
                <a:latin typeface="Aptos"/>
              </a:rPr>
              <a:t>CLIENTS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24728" y="3300984"/>
            <a:ext cx="1097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3B8A6"/>
                </a:solidFill>
                <a:latin typeface="Aptos"/>
              </a:rPr>
              <a:t>04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2971800"/>
            <a:ext cx="148132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16367" y="3072384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708296"/>
                </a:solidFill>
                <a:latin typeface="Aptos"/>
              </a:rPr>
              <a:t>PROJECTS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7" y="3300984"/>
            <a:ext cx="1097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D1F38"/>
                </a:solidFill>
                <a:latin typeface="Aptos"/>
              </a:rPr>
              <a:t>08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2971800"/>
            <a:ext cx="148132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08007" y="3072384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708296"/>
                </a:solidFill>
                <a:latin typeface="Aptos"/>
              </a:rPr>
              <a:t>OPEN TASKS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8007" y="3300984"/>
            <a:ext cx="1097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2972A"/>
                </a:solidFill>
                <a:latin typeface="Aptos"/>
              </a:rPr>
              <a:t>12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0" y="3977639"/>
            <a:ext cx="5394960" cy="1417320"/>
          </a:xfrm>
          <a:prstGeom prst="roundRect">
            <a:avLst>
              <a:gd name="adj" fmla="val 12000"/>
            </a:avLst>
          </a:prstGeom>
          <a:solidFill>
            <a:srgbClr val="F9FBFD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97880" y="4087368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TASK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087368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DUE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087368"/>
            <a:ext cx="118872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416552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3347"/>
                </a:solidFill>
                <a:latin typeface="Aptos"/>
              </a:rPr>
              <a:t>Homepage draft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416552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8296"/>
                </a:solidFill>
                <a:latin typeface="Aptos"/>
              </a:rPr>
              <a:t>12 Oct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53728" y="4425696"/>
            <a:ext cx="1261872" cy="228600"/>
          </a:xfrm>
          <a:prstGeom prst="roundRect">
            <a:avLst>
              <a:gd name="adj" fmla="val 12000"/>
            </a:avLst>
          </a:prstGeom>
          <a:solidFill>
            <a:srgbClr val="DEF8F4"/>
          </a:solidFill>
          <a:ln>
            <a:solidFill>
              <a:srgbClr val="DE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81160" y="4425696"/>
            <a:ext cx="11887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3B8A6"/>
                </a:solidFill>
                <a:latin typeface="Aptos"/>
              </a:rPr>
              <a:t>In progress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484632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3347"/>
                </a:solidFill>
                <a:latin typeface="Aptos"/>
              </a:rPr>
              <a:t>Brand 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8296"/>
                </a:solidFill>
                <a:latin typeface="Aptos"/>
              </a:rPr>
              <a:t>14 Oct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53728" y="4855464"/>
            <a:ext cx="1261872" cy="228600"/>
          </a:xfrm>
          <a:prstGeom prst="roundRect">
            <a:avLst>
              <a:gd name="adj" fmla="val 12000"/>
            </a:avLst>
          </a:prstGeom>
          <a:solidFill>
            <a:srgbClr val="FFF2DE"/>
          </a:solidFill>
          <a:ln>
            <a:solidFill>
              <a:srgbClr val="FFF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81160" y="4855464"/>
            <a:ext cx="11887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E2972A"/>
                </a:solidFill>
                <a:latin typeface="Aptos"/>
              </a:rPr>
              <a:t>Planned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89788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857E"/>
                </a:solidFill>
                <a:latin typeface="Aptos"/>
              </a:rPr>
              <a:t>Expected practical value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14600" y="5870448"/>
            <a:ext cx="81381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D1F38"/>
                </a:solidFill>
                <a:latin typeface="Aptos"/>
              </a:rPr>
              <a:t>Better visibility • clearer ownership • easier follow-up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FREELANCERFLOW  •  APSH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27080" y="6519672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08296"/>
                </a:solidFill>
                <a:latin typeface="Apto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B8A6"/>
                </a:solidFill>
                <a:latin typeface="Aptos"/>
              </a:rPr>
              <a:t>07  / 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Organize the work. Keep the flow 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7EFF5"/>
                </a:solidFill>
                <a:latin typeface="Aptos"/>
              </a:rPr>
              <a:t>FreelancerFlow is a MERN-stack prototype concept for managing project information, tasks, deadlines and payment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18304E"/>
          </a:solidFill>
          <a:ln>
            <a:solidFill>
              <a:srgbClr val="18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137160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3B8A6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31089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One workspace. Four connected data areas.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17520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B8A6"/>
                </a:solidFill>
                <a:latin typeface="Aptos"/>
              </a:rPr>
              <a:t>TEAM FREELANCERFLOW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83280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V SAI VAMSHI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383280"/>
            <a:ext cx="132588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Team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602736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25MVCSMR0675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8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 SAI CHARAN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904488"/>
            <a:ext cx="132588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Frontend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123944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25MVCSMR0700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25696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 MANOJ REDDY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425696"/>
            <a:ext cx="132588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Backend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645152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25MVCSMR0715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46904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SHAIK SHAYAAN AHMAD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946904"/>
            <a:ext cx="132588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Testing &amp;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16636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9D9"/>
                </a:solidFill>
                <a:latin typeface="Aptos"/>
              </a:rPr>
              <a:t>25MVCSMR0673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6928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B8A6"/>
                </a:solidFill>
                <a:latin typeface="Aptos"/>
              </a:rPr>
              <a:t>Faculty Mentor: Satwika Mam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755648"/>
            <a:ext cx="6903720" cy="3383280"/>
          </a:xfrm>
          <a:prstGeom prst="roundRect">
            <a:avLst>
              <a:gd name="adj" fmla="val 12000"/>
            </a:avLst>
          </a:prstGeom>
          <a:solidFill>
            <a:srgbClr val="18304E"/>
          </a:solidFill>
          <a:ln>
            <a:solidFill>
              <a:srgbClr val="18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0" y="2011680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B8A6"/>
                </a:solidFill>
                <a:latin typeface="Aptos"/>
              </a:rPr>
              <a:t>TECHNICAL REFERENCES</a:t>
            </a:r>
          </a:p>
        </p:txBody>
      </p:sp>
      <p:sp>
        <p:nvSpPr>
          <p:cNvPr id="24" name="Oval 23"/>
          <p:cNvSpPr/>
          <p:nvPr/>
        </p:nvSpPr>
        <p:spPr>
          <a:xfrm>
            <a:off x="4956048" y="2487168"/>
            <a:ext cx="292608" cy="29260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2487168"/>
            <a:ext cx="292608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D1F38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478024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478024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ECFDE"/>
                </a:solidFill>
                <a:latin typeface="Aptos"/>
              </a:rPr>
              <a:t>https://react.dev/</a:t>
            </a:r>
          </a:p>
        </p:txBody>
      </p:sp>
      <p:sp>
        <p:nvSpPr>
          <p:cNvPr id="28" name="Oval 27"/>
          <p:cNvSpPr/>
          <p:nvPr/>
        </p:nvSpPr>
        <p:spPr>
          <a:xfrm>
            <a:off x="4956048" y="3026664"/>
            <a:ext cx="292608" cy="29260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56048" y="3026664"/>
            <a:ext cx="292608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D1F38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017520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Express.js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01752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ECFDE"/>
                </a:solidFill>
                <a:latin typeface="Aptos"/>
              </a:rPr>
              <a:t>https://expressjs.com/</a:t>
            </a:r>
          </a:p>
        </p:txBody>
      </p:sp>
      <p:sp>
        <p:nvSpPr>
          <p:cNvPr id="32" name="Oval 31"/>
          <p:cNvSpPr/>
          <p:nvPr/>
        </p:nvSpPr>
        <p:spPr>
          <a:xfrm>
            <a:off x="4956048" y="3566160"/>
            <a:ext cx="292608" cy="29260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6048" y="3566160"/>
            <a:ext cx="292608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D1F38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557016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55701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ECFDE"/>
                </a:solidFill>
                <a:latin typeface="Aptos"/>
              </a:rPr>
              <a:t>https://www.mongodb.com/docs/</a:t>
            </a:r>
          </a:p>
        </p:txBody>
      </p:sp>
      <p:sp>
        <p:nvSpPr>
          <p:cNvPr id="36" name="Oval 35"/>
          <p:cNvSpPr/>
          <p:nvPr/>
        </p:nvSpPr>
        <p:spPr>
          <a:xfrm>
            <a:off x="4956048" y="4105656"/>
            <a:ext cx="292608" cy="292608"/>
          </a:xfrm>
          <a:prstGeom prst="ellipse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56048" y="4105656"/>
            <a:ext cx="292608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D1F38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096512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Node.js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096512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ECFDE"/>
                </a:solidFill>
                <a:latin typeface="Aptos"/>
              </a:rPr>
              <a:t>https://nodejs.org/docs/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4572000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3B8A6"/>
                </a:solidFill>
                <a:latin typeface="Aptos"/>
              </a:rPr>
              <a:t>NEXT STEPS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4846320"/>
            <a:ext cx="5989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7EFF5"/>
                </a:solidFill>
                <a:latin typeface="Aptos"/>
              </a:rPr>
              <a:t>Validate core flows • add deadline-based prioritization • test with users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577840"/>
            <a:ext cx="28346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5669280"/>
            <a:ext cx="33832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B8A6"/>
                </a:solidFill>
                <a:latin typeface="Aptos"/>
              </a:rPr>
              <a:t>Questions &amp; Discussion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CF"/>
                </a:solidFill>
                <a:latin typeface="Aptos"/>
              </a:rPr>
              <a:t>FREELANCERFLOW  •  APSH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6519672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ADBECF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720</Words>
  <Application>Microsoft Office PowerPoint</Application>
  <PresentationFormat>Widescreen</PresentationFormat>
  <Paragraphs>213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charan sheri</cp:lastModifiedBy>
  <cp:revision>3</cp:revision>
  <dcterms:created xsi:type="dcterms:W3CDTF">2013-01-27T09:14:16Z</dcterms:created>
  <dcterms:modified xsi:type="dcterms:W3CDTF">2026-10-10T07:21:49Z</dcterms:modified>
  <cp:category/>
</cp:coreProperties>
</file>